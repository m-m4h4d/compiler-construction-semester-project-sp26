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521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25">
            <a:extLst>
              <a:ext uri="{FF2B5EF4-FFF2-40B4-BE49-F238E27FC236}">
                <a16:creationId xmlns:a16="http://schemas.microsoft.com/office/drawing/2014/main" id="{5973D70D-6DF5-16C2-EC87-3EFF09FCE64A}"/>
              </a:ext>
            </a:extLst>
          </p:cNvPr>
          <p:cNvSpPr/>
          <p:nvPr/>
        </p:nvSpPr>
        <p:spPr>
          <a:xfrm>
            <a:off x="0" y="384048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94D3C4F5-212B-EF87-7218-C545F678B3BC}"/>
              </a:ext>
            </a:extLst>
          </p:cNvPr>
          <p:cNvSpPr/>
          <p:nvPr/>
        </p:nvSpPr>
        <p:spPr>
          <a:xfrm>
            <a:off x="0" y="768096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23D52FC5-DF2D-4640-2620-3887EFFBC3C6}"/>
              </a:ext>
            </a:extLst>
          </p:cNvPr>
          <p:cNvSpPr/>
          <p:nvPr/>
        </p:nvSpPr>
        <p:spPr>
          <a:xfrm>
            <a:off x="0" y="1152144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4B8CD605-1901-3530-2BE9-A76B5D0C8973}"/>
              </a:ext>
            </a:extLst>
          </p:cNvPr>
          <p:cNvSpPr/>
          <p:nvPr/>
        </p:nvSpPr>
        <p:spPr>
          <a:xfrm>
            <a:off x="0" y="1536192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76070982-878A-0A36-D26F-64AF612D1E1B}"/>
              </a:ext>
            </a:extLst>
          </p:cNvPr>
          <p:cNvSpPr/>
          <p:nvPr/>
        </p:nvSpPr>
        <p:spPr>
          <a:xfrm>
            <a:off x="0" y="1920240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F2A7F8D0-3135-64DE-7CA9-B92AFD351981}"/>
              </a:ext>
            </a:extLst>
          </p:cNvPr>
          <p:cNvSpPr/>
          <p:nvPr/>
        </p:nvSpPr>
        <p:spPr>
          <a:xfrm>
            <a:off x="0" y="2304288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EFCDDDF8-44F3-467A-CC3F-A2A5DBD235E5}"/>
              </a:ext>
            </a:extLst>
          </p:cNvPr>
          <p:cNvSpPr/>
          <p:nvPr/>
        </p:nvSpPr>
        <p:spPr>
          <a:xfrm>
            <a:off x="0" y="2688336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A026B01E-EBF0-CF25-29D2-B13145DE7881}"/>
              </a:ext>
            </a:extLst>
          </p:cNvPr>
          <p:cNvSpPr/>
          <p:nvPr/>
        </p:nvSpPr>
        <p:spPr>
          <a:xfrm>
            <a:off x="0" y="3072384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CF4136F1-9D05-5D09-3F20-7C123657AE54}"/>
              </a:ext>
            </a:extLst>
          </p:cNvPr>
          <p:cNvSpPr/>
          <p:nvPr/>
        </p:nvSpPr>
        <p:spPr>
          <a:xfrm>
            <a:off x="0" y="3456432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Shape 34">
            <a:extLst>
              <a:ext uri="{FF2B5EF4-FFF2-40B4-BE49-F238E27FC236}">
                <a16:creationId xmlns:a16="http://schemas.microsoft.com/office/drawing/2014/main" id="{108D2A18-C9F3-7EEE-B465-892816EAF34F}"/>
              </a:ext>
            </a:extLst>
          </p:cNvPr>
          <p:cNvSpPr/>
          <p:nvPr/>
        </p:nvSpPr>
        <p:spPr>
          <a:xfrm>
            <a:off x="0" y="3840480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D733E599-36D6-C011-87EA-A64A69A87D5D}"/>
              </a:ext>
            </a:extLst>
          </p:cNvPr>
          <p:cNvSpPr/>
          <p:nvPr/>
        </p:nvSpPr>
        <p:spPr>
          <a:xfrm>
            <a:off x="0" y="4224528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8A5D8657-27AE-DCF2-3961-12C9197A079E}"/>
              </a:ext>
            </a:extLst>
          </p:cNvPr>
          <p:cNvSpPr/>
          <p:nvPr/>
        </p:nvSpPr>
        <p:spPr>
          <a:xfrm>
            <a:off x="0" y="4608576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626BC19F-AFC0-7462-04BB-7A30C24D328F}"/>
              </a:ext>
            </a:extLst>
          </p:cNvPr>
          <p:cNvSpPr/>
          <p:nvPr/>
        </p:nvSpPr>
        <p:spPr>
          <a:xfrm>
            <a:off x="0" y="4992624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5577840" y="320040"/>
            <a:ext cx="3383280" cy="448056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5577840" y="320040"/>
            <a:ext cx="3383280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715000" y="4023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916168" y="4023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117336" y="4023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7772400" y="338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0" y="548640"/>
            <a:ext cx="3200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Modular C Compiler
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 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8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
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8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
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8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SemanticAnalyzer
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8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
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 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8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TACGenerator
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codegen 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8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LLVMBackend
</a:t>
            </a:r>
            <a:r>
              <a:rPr lang="en-US" sz="88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(src):
  tokens = Lexer(src).tokenize()
  ast    = Parser(tokens).parse()
  SemanticAnalyzer(ast).check()
  Optimizer(ast).optimize()
  TACGenerator(ast).generate()
  LLVMBackend(ast).emit()
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11480" y="384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800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COMPILER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11480" y="8869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11480" y="1389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6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PROJECT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11480" y="1901952"/>
            <a:ext cx="3474720" cy="457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11480" y="20299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9D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Compiler for a Subset of 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" y="24505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 ·  Parser (AST)  ·  Semantic Analyzer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  ·  TAC Generator  ·  LLVM Backend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182112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11480" y="31821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09344" y="3191256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1609344" y="31912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LLVM IR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15768" y="3182112"/>
            <a:ext cx="1847088" cy="256032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2715768" y="318211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 Descent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11480" y="43525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Construction  ·  BSCS-12B  ·  Spring 2026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645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Mahad (408576)  ·  Abdul Moiz (375299)  ·  Muhammad Bashar Siddiqui (366006)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this presentation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73152" cy="62179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" y="128930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" y="15453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compiler does, tech stack, and output 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56816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20040" y="1956816"/>
            <a:ext cx="73152" cy="621792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9264" y="201168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Compiler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22677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six-phase architecture diagram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20040" y="2679192"/>
            <a:ext cx="73152" cy="621792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57200" y="2679192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9264" y="27340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Subset &amp; Grammar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29900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features and context-free grammar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320040" y="3401568"/>
            <a:ext cx="73152" cy="62179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57200" y="3401568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" y="345643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37124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each of the 6 compilation phases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123944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20040" y="4123944"/>
            <a:ext cx="73152" cy="621792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57200" y="4123944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9264" y="41788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the Compiler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9264" y="44348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CLI usage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1234440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4800600" y="1234440"/>
            <a:ext cx="73152" cy="62179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4937760" y="1234440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128930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— Test Case 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15453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Arithmetic + Constant Folding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1956816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4800600" y="1956816"/>
            <a:ext cx="73152" cy="62179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937760" y="1956816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201168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— Test Case 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22677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+ Dead Code Elimination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679192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4800600" y="2679192"/>
            <a:ext cx="73152" cy="62179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937760" y="2679192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40680" y="27340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— Test Case 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29900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+ Arrays + LLVM IR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401568"/>
            <a:ext cx="4023360" cy="6217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4800600" y="3401568"/>
            <a:ext cx="73152" cy="621792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4937760" y="3401568"/>
            <a:ext cx="438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40680" y="345643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40680" y="37124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3456432" cy="175564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3456432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8992" y="109728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Python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3127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dependencies. Runs in any standard Python 3 environment out of the box.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932688"/>
            <a:ext cx="3456432" cy="175564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023360" y="932688"/>
            <a:ext cx="3456432" cy="54864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187952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36592" y="109728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Recursive Descent AST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87952" y="1645920"/>
            <a:ext cx="3127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top-down parser builds a full Abstract Syntax Tree for rich semantic analysis.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3456432" cy="175564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456432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53035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78992" y="299923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IR Outputs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547872"/>
            <a:ext cx="3127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both Three-Address Code (.tac) and LLVM IR (.ll) for native compilation via clang.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0" y="2834640"/>
            <a:ext cx="3456432" cy="175564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023360" y="2834640"/>
            <a:ext cx="3456432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18795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36592" y="299923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Optimisation Built-In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87952" y="3547872"/>
            <a:ext cx="3127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 and Dead Code Elimination run at the AST level before code generation.</a:t>
            </a:r>
            <a:endParaRPr lang="en-US" sz="1050" dirty="0"/>
          </a:p>
        </p:txBody>
      </p:sp>
      <p:sp>
        <p:nvSpPr>
          <p:cNvPr id="24" name="Shape 22"/>
          <p:cNvSpPr>
            <a:spLocks/>
          </p:cNvSpPr>
          <p:nvPr/>
        </p:nvSpPr>
        <p:spPr>
          <a:xfrm>
            <a:off x="7635240" y="932688"/>
            <a:ext cx="1298448" cy="365760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7635240" y="98755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44968" y="1517904"/>
            <a:ext cx="1078992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27" name="Text 25"/>
          <p:cNvSpPr/>
          <p:nvPr/>
        </p:nvSpPr>
        <p:spPr>
          <a:xfrm>
            <a:off x="7744968" y="155448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62672" y="208483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58810" y="2441448"/>
            <a:ext cx="36576" cy="20116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7744968" y="2523744"/>
            <a:ext cx="1078992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744968" y="256032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62672" y="309067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 IR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257032" y="3447288"/>
            <a:ext cx="36576" cy="20116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7744968" y="3529584"/>
            <a:ext cx="1078992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7744968" y="356616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62672" y="40965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Compiler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enters at the top — each phase transforms it and passes the result to the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📥  input.c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64792" y="1307592"/>
            <a:ext cx="310896" cy="54864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2075688" y="1243584"/>
            <a:ext cx="73152" cy="182880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148840" y="1051560"/>
            <a:ext cx="2084832" cy="148132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148840" y="1051560"/>
            <a:ext cx="2084832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221992" y="1143000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221992" y="114300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lexer.py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40280" y="1399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139903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Lexical Analyzer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178308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Tokenizes input via regex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21992" y="2203704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2221992" y="22037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Token Stream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33672" y="1764792"/>
            <a:ext cx="201168" cy="54864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379976" y="1691640"/>
            <a:ext cx="54864" cy="20116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434840" y="1051560"/>
            <a:ext cx="2084832" cy="148132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434840" y="1051560"/>
            <a:ext cx="2084832" cy="54864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507992" y="1143000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507992" y="114300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parser.py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26280" y="1399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92040" y="139903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Syntax Analyzer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178308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descent — builds AST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07992" y="2203704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507992" y="22037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AST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19672" y="1764792"/>
            <a:ext cx="201168" cy="54864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6665976" y="1691640"/>
            <a:ext cx="54864" cy="20116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720840" y="1051560"/>
            <a:ext cx="2084832" cy="148132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720840" y="1051560"/>
            <a:ext cx="2084832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793992" y="1143000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793992" y="114300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semantic.py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12280" y="1399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78040" y="139903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Analyzer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12280" y="178308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table, scope &amp; type checks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93992" y="2203704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793992" y="22037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Annotated AST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48840" y="2807208"/>
            <a:ext cx="2084832" cy="148132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2148840" y="2807208"/>
            <a:ext cx="2084832" cy="54864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2221992" y="2898648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2221992" y="28986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optimizer.py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240280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606040" y="31546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240280" y="353872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 &amp; Dead Code Elim.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21992" y="3959352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2221992" y="39593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Optimized AST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233672" y="3520440"/>
            <a:ext cx="201168" cy="54864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4379976" y="3447288"/>
            <a:ext cx="54864" cy="20116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Shape 49"/>
          <p:cNvSpPr/>
          <p:nvPr/>
        </p:nvSpPr>
        <p:spPr>
          <a:xfrm>
            <a:off x="4434840" y="2807208"/>
            <a:ext cx="2084832" cy="148132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4434840" y="2807208"/>
            <a:ext cx="2084832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Shape 51"/>
          <p:cNvSpPr/>
          <p:nvPr/>
        </p:nvSpPr>
        <p:spPr>
          <a:xfrm>
            <a:off x="4507992" y="2898648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4507992" y="28986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tac.py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26280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892040" y="31546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TAC Generator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26280" y="353872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 AST traversal → labels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07992" y="3959352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4507992" y="39593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output.tac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19672" y="3520440"/>
            <a:ext cx="201168" cy="54864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Shape 59"/>
          <p:cNvSpPr/>
          <p:nvPr/>
        </p:nvSpPr>
        <p:spPr>
          <a:xfrm>
            <a:off x="6665976" y="3447288"/>
            <a:ext cx="54864" cy="20116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2" name="Shape 60"/>
          <p:cNvSpPr/>
          <p:nvPr/>
        </p:nvSpPr>
        <p:spPr>
          <a:xfrm>
            <a:off x="6720840" y="2807208"/>
            <a:ext cx="2084832" cy="148132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3" name="Shape 61"/>
          <p:cNvSpPr/>
          <p:nvPr/>
        </p:nvSpPr>
        <p:spPr>
          <a:xfrm>
            <a:off x="6720840" y="2807208"/>
            <a:ext cx="2084832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4" name="Shape 62"/>
          <p:cNvSpPr/>
          <p:nvPr/>
        </p:nvSpPr>
        <p:spPr>
          <a:xfrm>
            <a:off x="6793992" y="2898648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6793992" y="28986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codegen.py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12280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178040" y="31546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LLVM Backend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812280" y="353872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 / load / store / getelptr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793992" y="3959352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6793992" y="39593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output.ll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443728" y="2532888"/>
            <a:ext cx="54864" cy="2468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2" name="Shape 70"/>
          <p:cNvSpPr/>
          <p:nvPr/>
        </p:nvSpPr>
        <p:spPr>
          <a:xfrm>
            <a:off x="5370576" y="2752344"/>
            <a:ext cx="201168" cy="54864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Subset Definition &amp; Grammar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32588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1325880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20624" y="9875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0624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·  float  ·  double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83080" y="914400"/>
            <a:ext cx="132588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783080" y="914400"/>
            <a:ext cx="1325880" cy="54864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1856232" y="9875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56232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−  ×  /  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914400"/>
            <a:ext cx="132588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218688" y="914400"/>
            <a:ext cx="1325880" cy="54864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291840" y="9875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!=  &lt;  &gt;  &lt;=  &gt;=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54296" y="914400"/>
            <a:ext cx="132588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654296" y="914400"/>
            <a:ext cx="1325880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727448" y="9875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7448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||  !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9904" y="914400"/>
            <a:ext cx="132588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089904" y="914400"/>
            <a:ext cx="132588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163056" y="9875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Flow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63056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if-else  ·  while  ·  for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25512" y="914400"/>
            <a:ext cx="1325880" cy="107899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7525512" y="914400"/>
            <a:ext cx="1325880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7598664" y="9875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98664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 ·  return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Features: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87168" y="2121408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2487168" y="212140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1D Arrays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80560" y="2121408"/>
            <a:ext cx="1755648" cy="256032"/>
          </a:xfrm>
          <a:prstGeom prst="roundRect">
            <a:avLst>
              <a:gd name="adj" fmla="val 14286"/>
            </a:avLst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480560" y="21214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 Folding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73952" y="2121408"/>
            <a:ext cx="2212848" cy="256032"/>
          </a:xfrm>
          <a:prstGeom prst="roundRect">
            <a:avLst>
              <a:gd name="adj" fmla="val 14286"/>
            </a:avLst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473952" y="212140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Code Elimination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25146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 (excerpt)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7472" y="2834640"/>
            <a:ext cx="8458200" cy="214884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347472" y="2834640"/>
            <a:ext cx="8458200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75488" y="2926080"/>
            <a:ext cx="822960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Decl*
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ID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'(' Params ')' Block | '[' NUMBER ']' ';' | [ '=' Expr ] ';' )
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'{' Stmt* '}'
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IfStmt | WhileStmt | ForStmt | ReturnStmt | ExprStmt | Block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IfStmt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'if' '(' Expr ')' Stmt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'else' Stmt ]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WhileStmt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'while' '(' Expr ')' Stmt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ForStmt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'for' '(' ExprStmt Expr ';' Expr ')' Stmt
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LogicalOr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→ LogicalAnd → Equality → Relational → Additive → … 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Design — Part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2788920" cy="409651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68680"/>
            <a:ext cx="2788920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84048" y="95097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9509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133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Lexical Analyzer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444752"/>
            <a:ext cx="260604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84048" y="15179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Tokenizes the input source using regular expressions.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1956816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character-by-character using regex patterns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2377440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23408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Identifies: keywords, identifiers, numbers, operators, delimiters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2798064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48640" y="27614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LexError on unrecognized characters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2336" y="3218688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1821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flat ordered list of (type, value) token pairs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639312"/>
            <a:ext cx="2606040" cy="124358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02336" y="36393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2336" y="3877056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5 + 3;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INT  ID("a")  ASSIGN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INT_LIT(5)  PLUS  INT_LIT(3)  SEMI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36976" y="868680"/>
            <a:ext cx="2788920" cy="409651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3236976" y="868680"/>
            <a:ext cx="2788920" cy="54864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328416" y="95097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328416" y="9509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67328" y="9509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parser.py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67328" y="1133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Syntax Analyzer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28416" y="1444752"/>
            <a:ext cx="260604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328416" y="15179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Descent parser that builds a full Abstract Syntax Tree.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46704" y="1956816"/>
            <a:ext cx="91440" cy="91440"/>
          </a:xfrm>
          <a:prstGeom prst="ellipse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3493008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per grammar rule (parse_stmt, parse_expr, ...)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46704" y="2377440"/>
            <a:ext cx="91440" cy="91440"/>
          </a:xfrm>
          <a:prstGeom prst="ellipse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3493008" y="23408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operator precedence through nested calls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46704" y="2798064"/>
            <a:ext cx="91440" cy="91440"/>
          </a:xfrm>
          <a:prstGeom prst="ellipse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3493008" y="27614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assignment inside expressions for C-style for loops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46704" y="3218688"/>
            <a:ext cx="91440" cy="91440"/>
          </a:xfrm>
          <a:prstGeom prst="ellipse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3493008" y="31821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SyntaxError with meaningful context messages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28416" y="3639312"/>
            <a:ext cx="2606040" cy="124358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3346704" y="36393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346704" y="3877056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 = a * b;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AssignNode(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DeclNode('c'),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BinOpNode('*', ID(a), ID(b))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81344" y="868680"/>
            <a:ext cx="2788920" cy="409651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6181344" y="868680"/>
            <a:ext cx="2788920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6272784" y="95097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272784" y="9509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11696" y="9509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semantic.py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11696" y="1133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Analyzer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72784" y="1444752"/>
            <a:ext cx="260604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272784" y="15179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Stack-based symbol table enforces scoping and type rules.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1956816"/>
            <a:ext cx="91440" cy="91440"/>
          </a:xfrm>
          <a:prstGeom prst="ellipse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437376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scope on block entry, pop on exit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2377440"/>
            <a:ext cx="91440" cy="91440"/>
          </a:xfrm>
          <a:prstGeom prst="ellipse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437376" y="23408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duplicate declarations in same scope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91072" y="2798064"/>
            <a:ext cx="91440" cy="91440"/>
          </a:xfrm>
          <a:prstGeom prst="ellipse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6437376" y="27614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variable used before declaration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18688"/>
            <a:ext cx="91440" cy="91440"/>
          </a:xfrm>
          <a:prstGeom prst="ellipse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6437376" y="31821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array index is an integer expression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72784" y="3639312"/>
            <a:ext cx="2606040" cy="124358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6291072" y="36393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91072" y="3877056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5;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3; // ← ERROR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SemanticError: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'x' already declared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 this scope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Design — Part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2788920" cy="409651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68680"/>
            <a:ext cx="2788920" cy="54864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84048" y="95097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9509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133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444752"/>
            <a:ext cx="260604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84048" y="15179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AST-level optimizations before code generation.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1956816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48640" y="186156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Folding: evaluates literals at compile 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2377440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224942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Elimination: removes if(0)/while(0) blocks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279806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48640" y="26700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recursively on all AST nodes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2336" y="3218688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309143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TAC and LLVM IR size significantly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06724"/>
            <a:ext cx="2606040" cy="1380743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84048" y="3506725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" y="3744469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 = 5 + 3;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folding: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8  // no add at runtime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(0) { ...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Block removed entirely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36976" y="868680"/>
            <a:ext cx="2788920" cy="409651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3236976" y="868680"/>
            <a:ext cx="2788920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328416" y="95097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328416" y="9509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67328" y="9509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tac.py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67328" y="1133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TAC Generator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28416" y="1444752"/>
            <a:ext cx="260604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328416" y="15179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 AST traversal generates flat Three-Address Code.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46704" y="1956816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3493008" y="18496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complex expression decomposed into temp variables (t1, t2…)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46704" y="2377440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3493008" y="22677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generated for loops and conditionals (L1, L2…)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46704" y="2798064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3493008" y="26883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func / begin_func / end_func / return markers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46704" y="3218688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3493008" y="309067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ops: alloc_array, indexed read/write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10128" y="3506724"/>
            <a:ext cx="2606040" cy="1380743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3328416" y="3506725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328416" y="3744469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a * 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t1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i &lt; 10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if_false t2 goto L2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L1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L2: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81344" y="868680"/>
            <a:ext cx="2788920" cy="409651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6181344" y="868680"/>
            <a:ext cx="278892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6272784" y="95097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272784" y="9509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11696" y="9509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codegen.py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11696" y="1133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LLVM Backend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72784" y="1444752"/>
            <a:ext cx="260604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272784" y="15179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standard LLVM IR (.ll) from the optimized AST.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1956816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437376" y="1824229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 for every local variable — proper SSA-like structure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2377440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437376" y="2244853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store pattern mirrors C memory semantics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91072" y="2798064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6437376" y="266547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getelementptr handles array indexing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18688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6437376" y="3086101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calls: i32 @fname(i32 %arg, …) convention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54496" y="3506724"/>
            <a:ext cx="2606040" cy="1380743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6272784" y="3506725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72784" y="3744469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%1 = alloca i32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i32 10, i32* %1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%2 = load i32, i32* %1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%3 = mul i32 %2, %4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 i32 %3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the Compiler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3127248" cy="427482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75488" y="95097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Project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lexer.py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7360" y="131673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tokenizer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parser.py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37360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descent parser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ast_nodes.py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2194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node definitions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semantic.py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63347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&amp; checker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0723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optimizer.py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307238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 + DCE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5112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tac.py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35112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code generator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9502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codegen.py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395020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 IR emitter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main.py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4389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/ orchestrator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868680"/>
            <a:ext cx="5166360" cy="427482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657600" y="868680"/>
            <a:ext cx="516636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3785616" y="95097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986784" y="95097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187952" y="95097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8046720" y="8869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94760" y="12252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Place all files in one directory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94760" y="1444752"/>
            <a:ext cx="4892040" cy="29260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858768" y="144475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59936" y="14447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compiler/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94760" y="1828800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Compile a C source file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94760" y="2048256"/>
            <a:ext cx="4892040" cy="29260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3858768" y="204825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59936" y="20482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input.c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94760" y="243230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View TAC output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94760" y="2651760"/>
            <a:ext cx="4892040" cy="29260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3858768" y="265176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59936" y="2651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output.tac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94760" y="303580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View LLVM IR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94760" y="3255264"/>
            <a:ext cx="4892040" cy="29260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3858768" y="325526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59936" y="32552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output.ll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94760" y="36393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Compile to native binary via clang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94760" y="3858768"/>
            <a:ext cx="4892040" cy="29260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3858768" y="385876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59936" y="38587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clang output.ll -o output.exe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94760" y="42428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Run the executable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94760" y="4462272"/>
            <a:ext cx="4892040" cy="29260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3858768" y="446227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059936" y="44622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./output.exe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3693" y="4850892"/>
            <a:ext cx="5170267" cy="292608"/>
          </a:xfrm>
          <a:prstGeom prst="roundRect">
            <a:avLst>
              <a:gd name="adj" fmla="val 15789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3702050" y="4850892"/>
            <a:ext cx="50736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external dependencies — pure Python 3 standard library only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2860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312724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Arithmetic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Constant Folding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22192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3822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test1_arithmetic.c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on the next slides: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1325880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749040" y="1325880"/>
            <a:ext cx="73152" cy="7132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877056" y="1371600"/>
            <a:ext cx="21219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📄  Source Code</a:t>
            </a:r>
          </a:p>
        </p:txBody>
      </p:sp>
      <p:sp>
        <p:nvSpPr>
          <p:cNvPr id="13" name="Text 11"/>
          <p:cNvSpPr/>
          <p:nvPr/>
        </p:nvSpPr>
        <p:spPr>
          <a:xfrm>
            <a:off x="6392672" y="1408176"/>
            <a:ext cx="24084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program fed into the compiler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49040" y="2167128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749040" y="2167128"/>
            <a:ext cx="73152" cy="7132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877056" y="2212848"/>
            <a:ext cx="2447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🔣  Generated TAC</a:t>
            </a:r>
          </a:p>
        </p:txBody>
      </p:sp>
      <p:sp>
        <p:nvSpPr>
          <p:cNvPr id="17" name="Text 15"/>
          <p:cNvSpPr/>
          <p:nvPr/>
        </p:nvSpPr>
        <p:spPr>
          <a:xfrm>
            <a:off x="6392672" y="2249424"/>
            <a:ext cx="2338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 Code from tac.py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49040" y="3008376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749040" y="3008376"/>
            <a:ext cx="73152" cy="7132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877056" y="3054096"/>
            <a:ext cx="21219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⚙️  LLVM IR</a:t>
            </a:r>
          </a:p>
        </p:txBody>
      </p:sp>
      <p:sp>
        <p:nvSpPr>
          <p:cNvPr id="21" name="Text 19"/>
          <p:cNvSpPr/>
          <p:nvPr/>
        </p:nvSpPr>
        <p:spPr>
          <a:xfrm>
            <a:off x="6392672" y="3090672"/>
            <a:ext cx="2338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output.ll from codegen.py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49040" y="3849624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749040" y="3849624"/>
            <a:ext cx="73152" cy="7132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3877056" y="3895344"/>
            <a:ext cx="263169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  </a:t>
            </a:r>
            <a:r>
              <a:rPr lang="en-US" sz="2200" dirty="0">
                <a:solidFill>
                  <a:schemeClr val="bg1"/>
                </a:solidFill>
              </a:rPr>
              <a:t>Screenshot</a:t>
            </a:r>
          </a:p>
        </p:txBody>
      </p:sp>
      <p:sp>
        <p:nvSpPr>
          <p:cNvPr id="25" name="Text 23"/>
          <p:cNvSpPr/>
          <p:nvPr/>
        </p:nvSpPr>
        <p:spPr>
          <a:xfrm>
            <a:off x="6392672" y="3931920"/>
            <a:ext cx="2338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compiler run — all six phases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1 — Source Code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938528" cy="256032"/>
          </a:xfrm>
          <a:prstGeom prst="roundRect">
            <a:avLst>
              <a:gd name="adj" fmla="val 14286"/>
            </a:avLst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test1_arithmetic.c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42032" y="685800"/>
            <a:ext cx="1755648" cy="256032"/>
          </a:xfrm>
          <a:prstGeom prst="roundRect">
            <a:avLst>
              <a:gd name="adj" fmla="val 14286"/>
            </a:avLst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542032" y="6858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 Folding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4133088" cy="2999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4133088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75488" y="10881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676656" y="10881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877824" y="10881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286000" y="10241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test1_arithmetic.c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261872"/>
            <a:ext cx="3895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1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1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1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1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Optimizer folds this → 8
</a:t>
            </a: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* b;
</a:t>
            </a:r>
            <a:r>
              <a:rPr lang="en-US" sz="11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c;
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60520" cy="2999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91456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Optimizer Does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3192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791456" y="1572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🔎  Constant Folding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182880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5 + 3 is evaluated entirely at compile time. The compiler sees two integer literals, folds them, and emits b = 8 directly into TAC — no addition instruction generated.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91456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No Redundant Instructions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263347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multiply a * b uses a temp variable (t1) but since a=10 and b=8 are known, a smart further pass could fold this too. The optimizer leaves runtime expressions untouched.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91456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Result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1456" y="34381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TAC and LLVM IR are shorter and faster than a naive compile — this is the measurable benefit of compile-time optimisation.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4133088"/>
            <a:ext cx="8476488" cy="74980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75488" y="4224528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42245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test1_arithmetic.c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42245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output.tac  +  output.ll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1 — TAC &amp; LLVM IR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7472" y="777240"/>
            <a:ext cx="3218688" cy="413308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7472" y="777240"/>
            <a:ext cx="3218688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75488" y="8595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676656" y="8595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877824" y="8595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194560" y="79552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output.tac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Three-Address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316736"/>
            <a:ext cx="2980944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main: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begin_func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8           // ← folded from 5+3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a * 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t1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end_func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777240"/>
            <a:ext cx="5074920" cy="413308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3749040" y="777240"/>
            <a:ext cx="5074920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877056" y="8595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078224" y="8595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279392" y="8595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7132320" y="795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output.ll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77056" y="10241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LLVM Intermediate Representation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77056" y="1316736"/>
            <a:ext cx="482803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LLVM IR Generated by Custom Compiler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@printf(i8*, ...)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@main() {
</a:t>
            </a: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entry: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%1 = 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
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i32* %1
  %2 = 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
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i32* %2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← constant folded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%4 = 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i32, i32* %1
  %5 = 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i32, i32* %2
  %6 = 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i32 %4, %5
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i32 %6, i32* %3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i32 %7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1 — Live Terminal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3310128" cy="256032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test1_arithmetic.c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8476488" cy="2724912"/>
          </a:xfrm>
          <a:prstGeom prst="rect">
            <a:avLst/>
          </a:prstGeom>
          <a:solidFill>
            <a:srgbClr val="000000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05840"/>
            <a:ext cx="8476488" cy="2724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822192"/>
            <a:ext cx="20299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5"/>
          <p:cNvSpPr/>
          <p:nvPr/>
        </p:nvSpPr>
        <p:spPr>
          <a:xfrm>
            <a:off x="411480" y="3822192"/>
            <a:ext cx="2029968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50292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42062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completes without errors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14600" y="3822192"/>
            <a:ext cx="20299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2514600" y="3822192"/>
            <a:ext cx="2029968" cy="54864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260604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Parser + Semantic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606040" y="42062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built, semantic checks passed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63440" y="3822192"/>
            <a:ext cx="20299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4663440" y="3822192"/>
            <a:ext cx="2029968" cy="54864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475488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754880" y="42062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 &amp; DCE applied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12280" y="3822192"/>
            <a:ext cx="20299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6812280" y="3822192"/>
            <a:ext cx="2029968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90372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03720" y="42062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output.tac and output.ll written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2860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312724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 &amp; Dead Code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Elimination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22192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3822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test2_loops.c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on the next slides: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1325880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749040" y="1325880"/>
            <a:ext cx="73152" cy="71323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877056" y="1371600"/>
            <a:ext cx="2464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📄  Source Code</a:t>
            </a:r>
          </a:p>
        </p:txBody>
      </p:sp>
      <p:sp>
        <p:nvSpPr>
          <p:cNvPr id="13" name="Text 11"/>
          <p:cNvSpPr/>
          <p:nvPr/>
        </p:nvSpPr>
        <p:spPr>
          <a:xfrm>
            <a:off x="6341872" y="1408176"/>
            <a:ext cx="2370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program fed into the compiler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49040" y="2167128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749040" y="2167128"/>
            <a:ext cx="73152" cy="71323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877056" y="2212848"/>
            <a:ext cx="2464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🔣  Generated TAC</a:t>
            </a:r>
          </a:p>
        </p:txBody>
      </p:sp>
      <p:sp>
        <p:nvSpPr>
          <p:cNvPr id="17" name="Text 15"/>
          <p:cNvSpPr/>
          <p:nvPr/>
        </p:nvSpPr>
        <p:spPr>
          <a:xfrm>
            <a:off x="6341872" y="2249424"/>
            <a:ext cx="2370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 Code from tac.py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49040" y="3008376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749040" y="3008376"/>
            <a:ext cx="73152" cy="71323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877056" y="3054096"/>
            <a:ext cx="2464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⚙️  LLVM IR</a:t>
            </a:r>
          </a:p>
        </p:txBody>
      </p:sp>
      <p:sp>
        <p:nvSpPr>
          <p:cNvPr id="21" name="Text 19"/>
          <p:cNvSpPr/>
          <p:nvPr/>
        </p:nvSpPr>
        <p:spPr>
          <a:xfrm>
            <a:off x="6341872" y="3090672"/>
            <a:ext cx="2370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output.ll from codegen.py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49040" y="3849624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749040" y="3849624"/>
            <a:ext cx="73152" cy="71323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3877056" y="3895344"/>
            <a:ext cx="2464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🖥️  Screenshot</a:t>
            </a:r>
          </a:p>
        </p:txBody>
      </p:sp>
      <p:sp>
        <p:nvSpPr>
          <p:cNvPr id="25" name="Text 23"/>
          <p:cNvSpPr/>
          <p:nvPr/>
        </p:nvSpPr>
        <p:spPr>
          <a:xfrm>
            <a:off x="6341872" y="3931920"/>
            <a:ext cx="2370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compiler run — all six phases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2 — Source Code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481328" cy="256032"/>
          </a:xfrm>
          <a:prstGeom prst="roundRect">
            <a:avLst>
              <a:gd name="adj" fmla="val 14286"/>
            </a:avLst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test2_loops.c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242312" y="685800"/>
            <a:ext cx="2212848" cy="256032"/>
          </a:xfrm>
          <a:prstGeom prst="roundRect">
            <a:avLst>
              <a:gd name="adj" fmla="val 14286"/>
            </a:avLst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242312" y="6858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Code Elimination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4224528" cy="395020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347472" y="1005840"/>
            <a:ext cx="4224528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75488" y="10881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676656" y="10881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877824" y="10881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651760" y="1024128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test2_loops.c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225296"/>
            <a:ext cx="3986784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int i =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&lt;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      sum = sum + i;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= i +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  }
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j;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 =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 &lt;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 = j +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      sum = sum + j;
    }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 </a:t>
            </a: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DEAD CODE — eliminated!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 =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  }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96512" cy="395020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882896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 Demonstrated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1444752"/>
            <a:ext cx="384048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846320" y="1536192"/>
            <a:ext cx="73152" cy="658368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992624" y="1536192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while loop → TAC labels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92624" y="1810512"/>
            <a:ext cx="3712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labels with if_false and goto — standard structured loop translation.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73152" cy="65836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992624" y="2377440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loop → same pattern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2651760"/>
            <a:ext cx="3712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desugared into init + while-style conditional, matching C semantics precisely.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3218688"/>
            <a:ext cx="73152" cy="658368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992624" y="3218688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 Code Elimination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92624" y="3493008"/>
            <a:ext cx="3712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if(0) { ... } block detected at optimizer level — the entire block is dropped before TAC/LLVM generation. Zero instructions emitted for it.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4059936"/>
            <a:ext cx="73152" cy="658368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992624" y="4059936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 variables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92624" y="4334256"/>
            <a:ext cx="3712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binary op gets its own temp (t1, t2, t3…), keeping TAC in strict three-operand form.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2 — Three-Address Code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7472" y="777240"/>
            <a:ext cx="4041648" cy="428371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7472" y="777240"/>
            <a:ext cx="4041648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75488" y="8595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676656" y="8595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877824" y="8595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108960" y="79552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output.tac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024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Three-Address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316736"/>
            <a:ext cx="380390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main: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begin_func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L1:           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while loop start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i &lt;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if_false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goto L2
t2 = sum + i
sum = t2
t3 = i +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t3
goto L1
</a:t>
            </a: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L2:           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loop init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L3:           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loop start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 = j &lt;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if_false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 goto L4
t5 = sum + j
sum = t5
t6 = j +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t6
goto L3
</a:t>
            </a: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L4:              </a:t>
            </a: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if(0) block ELIMINATED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251960" cy="428371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700016" y="868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TAC Structure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81728" y="1261872"/>
            <a:ext cx="4005072" cy="640080"/>
          </a:xfrm>
          <a:prstGeom prst="rect">
            <a:avLst/>
          </a:prstGeom>
          <a:solidFill>
            <a:srgbClr val="0D1117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681728" y="1261872"/>
            <a:ext cx="73152" cy="640080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91456" y="1280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→ L2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91456" y="1536192"/>
            <a:ext cx="3822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(i &lt; 10) loop — 7 TAC instructions total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2011680"/>
            <a:ext cx="4005072" cy="640080"/>
          </a:xfrm>
          <a:prstGeom prst="rect">
            <a:avLst/>
          </a:prstGeom>
          <a:solidFill>
            <a:srgbClr val="0D1117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4681728" y="2011680"/>
            <a:ext cx="73152" cy="64008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791456" y="2029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→ L4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91456" y="2286000"/>
            <a:ext cx="3822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(j=0; j&lt;5; j++) loop — 7 TAC instructions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2761488"/>
            <a:ext cx="4005072" cy="640080"/>
          </a:xfrm>
          <a:prstGeom prst="rect">
            <a:avLst/>
          </a:prstGeom>
          <a:solidFill>
            <a:srgbClr val="0D1117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681728" y="2761488"/>
            <a:ext cx="73152" cy="64008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91456" y="27797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if(0) block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91456" y="3035808"/>
            <a:ext cx="3822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— 0 instructions. Only the label L4 remains as a jump target.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3511296"/>
            <a:ext cx="4005072" cy="640080"/>
          </a:xfrm>
          <a:prstGeom prst="rect">
            <a:avLst/>
          </a:prstGeom>
          <a:solidFill>
            <a:srgbClr val="0D1117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681728" y="3511296"/>
            <a:ext cx="73152" cy="640080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791456" y="35295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91456" y="3785616"/>
            <a:ext cx="3822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t1…t6 — each a single binary op result. Clean SSA-style naming.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4261104"/>
            <a:ext cx="4005072" cy="640080"/>
          </a:xfrm>
          <a:prstGeom prst="rect">
            <a:avLst/>
          </a:prstGeom>
          <a:solidFill>
            <a:srgbClr val="0D1117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4681728" y="4261104"/>
            <a:ext cx="73152" cy="64008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4791456" y="4279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91456" y="4535424"/>
            <a:ext cx="3822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L1, L2, L3, L4 — deterministic sequential labelling across all control flow.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2 — Live Terminal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2852928" cy="256032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test2_loops.c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8476488" cy="2724912"/>
          </a:xfrm>
          <a:prstGeom prst="rect">
            <a:avLst/>
          </a:prstGeom>
          <a:solidFill>
            <a:srgbClr val="000000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05840"/>
            <a:ext cx="8476488" cy="2724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822192"/>
            <a:ext cx="24871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5"/>
          <p:cNvSpPr/>
          <p:nvPr/>
        </p:nvSpPr>
        <p:spPr>
          <a:xfrm>
            <a:off x="411480" y="3822192"/>
            <a:ext cx="2487168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521208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6 Phases Complete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1208" y="42245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pipeline stages ran and completed without errors.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63240" y="3822192"/>
            <a:ext cx="24871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063240" y="3822192"/>
            <a:ext cx="2487168" cy="54864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3172968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Dead Code Removed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72968" y="42245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if(0) block silently eliminated — 0 TAC instructions generated for it.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5000" y="3822192"/>
            <a:ext cx="24871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5715000" y="3822192"/>
            <a:ext cx="2487168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5824728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Both Outputs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24728" y="42245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output.tac (3 loops, labels L1–L4) and output.ll written to disk.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2860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312724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 &amp; Arrays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LLVM Backend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22192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3822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test3_functions_arrays.c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on the next slides: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1325880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749040" y="1325880"/>
            <a:ext cx="73152" cy="71323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877056" y="1371600"/>
            <a:ext cx="242798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📄  Source Code</a:t>
            </a:r>
          </a:p>
        </p:txBody>
      </p:sp>
      <p:sp>
        <p:nvSpPr>
          <p:cNvPr id="13" name="Text 11"/>
          <p:cNvSpPr/>
          <p:nvPr/>
        </p:nvSpPr>
        <p:spPr>
          <a:xfrm>
            <a:off x="6386322" y="1389888"/>
            <a:ext cx="24020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program fed into the compiler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49040" y="2167128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749040" y="2167128"/>
            <a:ext cx="73152" cy="71323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877056" y="2212848"/>
            <a:ext cx="242798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🔣  Generated TAC</a:t>
            </a:r>
          </a:p>
        </p:txBody>
      </p:sp>
      <p:sp>
        <p:nvSpPr>
          <p:cNvPr id="17" name="Text 15"/>
          <p:cNvSpPr/>
          <p:nvPr/>
        </p:nvSpPr>
        <p:spPr>
          <a:xfrm>
            <a:off x="6386322" y="2231136"/>
            <a:ext cx="24020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 Code from tac.py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49040" y="3008376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749040" y="3008376"/>
            <a:ext cx="73152" cy="71323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877056" y="3054096"/>
            <a:ext cx="242798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⚙️  LLVM IR</a:t>
            </a:r>
          </a:p>
        </p:txBody>
      </p:sp>
      <p:sp>
        <p:nvSpPr>
          <p:cNvPr id="21" name="Text 19"/>
          <p:cNvSpPr/>
          <p:nvPr/>
        </p:nvSpPr>
        <p:spPr>
          <a:xfrm>
            <a:off x="6386322" y="3072384"/>
            <a:ext cx="24020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output.ll from codegen.py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49040" y="3849624"/>
            <a:ext cx="512064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749040" y="3849624"/>
            <a:ext cx="73152" cy="71323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3877056" y="3895344"/>
            <a:ext cx="242798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🖥️  Screenshot</a:t>
            </a:r>
          </a:p>
        </p:txBody>
      </p:sp>
      <p:sp>
        <p:nvSpPr>
          <p:cNvPr id="25" name="Text 23"/>
          <p:cNvSpPr/>
          <p:nvPr/>
        </p:nvSpPr>
        <p:spPr>
          <a:xfrm>
            <a:off x="6386322" y="3913632"/>
            <a:ext cx="24020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compiler run — all six phases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3 — Source Code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2487168" cy="256032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test3_functions_arrays.c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090672" y="694944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090672" y="69494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352544" y="694944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352544" y="69494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1D Arrays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005840"/>
            <a:ext cx="4041648" cy="395020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47472" y="1005840"/>
            <a:ext cx="4041648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75488" y="10881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676656" y="10881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877824" y="10881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286000" y="10241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test3_functions_arrays.c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225296"/>
            <a:ext cx="3803904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User-defined function
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x, int y) {
</a:t>
            </a: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y;
}
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 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1D array alloc
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  arr[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</a:t>
            </a:r>
            <a:r>
              <a:rPr lang="en-US" sz="10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arr[</a:t>
            </a: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
</a:t>
            </a: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4251960" cy="395020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700016" y="1097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Tests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1444752"/>
            <a:ext cx="4069080" cy="3657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681728" y="1536192"/>
            <a:ext cx="4005072" cy="7132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681728" y="1536192"/>
            <a:ext cx="54864" cy="713232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791456" y="155448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 Function Definition &amp; Call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91456" y="1810512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handles multi-function programs. add() is emitted first as a separate LLVM function with its own entry block.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81728" y="2377440"/>
            <a:ext cx="4005072" cy="7132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681728" y="2377440"/>
            <a:ext cx="54864" cy="713232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791456" y="239572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🗃️ 1D Array Allocation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91456" y="2651760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alloc_array arr, 5 in TAC maps to alloca i32, i32 5 in LLVM — the compiler correctly emits sized stack allocation.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218688"/>
            <a:ext cx="4005072" cy="7132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4681728" y="3218688"/>
            <a:ext cx="54864" cy="71323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791456" y="323697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Array Indexing (getelementptr)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91456" y="3493008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via arr[0] and arr[1] use getelementptr to compute element addresses — correct LLVM idiom.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81728" y="4059936"/>
            <a:ext cx="4005072" cy="71323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681728" y="4059936"/>
            <a:ext cx="54864" cy="71323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791456" y="407822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📨 Parameter Passing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91456" y="4334256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param / call maps to LLVM i32 @add(i32 %6, i32 %8) — values loaded from array then passed by value.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3 — TAC &amp; LLVM IR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7472" y="777240"/>
            <a:ext cx="3127248" cy="416052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47472" y="777240"/>
            <a:ext cx="3127248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75488" y="8595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676656" y="8595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877824" y="8595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286000" y="79552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output.tac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024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Three-Address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316736"/>
            <a:ext cx="2871216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add:
begin_func
t1 = x + y
return t1
end_func
func main:
begin_func
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alloc_array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arr, 5
arr[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arr[0]
t3 = arr[1]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
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
t4 = </a:t>
            </a:r>
            <a:r>
              <a:rPr lang="en-US" sz="100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add, 2
result = t4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end_func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777240"/>
            <a:ext cx="5166360" cy="4160520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3657600" y="777240"/>
            <a:ext cx="516636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785616" y="859536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3986784" y="859536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187952" y="859536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7132320" y="795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output.ll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85616" y="10241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LLVM Intermediate Representation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85616" y="1316736"/>
            <a:ext cx="491947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@add(i32 %x_arg, i32 %y_arg) {
</a:t>
            </a: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entry:
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%1 = </a:t>
            </a:r>
            <a:r>
              <a:rPr lang="en-US" sz="9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
  store i32 %x_arg, i32* %1
  %2 = </a:t>
            </a:r>
            <a:r>
              <a:rPr lang="en-US" sz="9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
  store i32 %y_arg, i32* %2
  %5 = </a:t>
            </a:r>
            <a:r>
              <a:rPr lang="en-US" sz="9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i32 %3, %4
  ret i32 %5
}
</a:t>
            </a:r>
            <a:r>
              <a:rPr lang="en-US" sz="9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@main() {
</a:t>
            </a: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entry:
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%1 = </a:t>
            </a:r>
            <a:r>
              <a:rPr lang="en-US" sz="9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i32, i32 5  </a:t>
            </a: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arr[5]
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%2 = </a:t>
            </a:r>
            <a:r>
              <a:rPr lang="en-US" sz="9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getelementptr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i32, i32* %1, i32 0
  store i32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i32* %2
  %3 = </a:t>
            </a:r>
            <a:r>
              <a:rPr lang="en-US" sz="9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getelementptr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i32, i32* %1, i32 1
  store i32 </a:t>
            </a: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i32* %3
  %9 = </a:t>
            </a:r>
            <a:r>
              <a:rPr lang="en-US" sz="950" dirty="0">
                <a:solidFill>
                  <a:srgbClr val="39D3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i32 @add(i32 %6, i32 %8)
  ret i32 %10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3 — Live Terminal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3858768" cy="256032"/>
          </a:xfrm>
          <a:prstGeom prst="roundRect">
            <a:avLst>
              <a:gd name="adj" fmla="val 14286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test3_functions_arrays.c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8476488" cy="2724912"/>
          </a:xfrm>
          <a:prstGeom prst="rect">
            <a:avLst/>
          </a:prstGeom>
          <a:solidFill>
            <a:srgbClr val="000000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05840"/>
            <a:ext cx="8476488" cy="2724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822192"/>
            <a:ext cx="24871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5"/>
          <p:cNvSpPr/>
          <p:nvPr/>
        </p:nvSpPr>
        <p:spPr>
          <a:xfrm>
            <a:off x="411480" y="3822192"/>
            <a:ext cx="2487168" cy="54864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521208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Multi-function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1208" y="42245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@add and @main functions emitted correctly in LLVM IR.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63240" y="3822192"/>
            <a:ext cx="24871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063240" y="3822192"/>
            <a:ext cx="2487168" cy="54864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3172968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🗃️  Array ops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72968" y="42245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getelementptr used for arr[0] and arr[1] — standard LLVM indexing.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5000" y="3822192"/>
            <a:ext cx="2487168" cy="111556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5715000" y="3822192"/>
            <a:ext cx="2487168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5824728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📨  Function call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24728" y="42245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@add(i32 %6, i32 %8) — values loaded from array and passed by value.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0" y="2560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4251960" cy="184708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251960" cy="54864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84632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50976" y="111556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 Arrays 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6245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84632" y="16245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61872" y="155448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Single-dimensional arrays supported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24180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4632" y="22418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61872" y="1938528"/>
            <a:ext cx="32186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multi-dimensional arrays and pointer arithmetic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809744" y="987552"/>
            <a:ext cx="4251960" cy="184708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809744" y="987552"/>
            <a:ext cx="4251960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946904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13248" y="111556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Pointers / Structs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46904" y="16245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946904" y="16245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24144" y="155448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and struct types are not in the grammar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46904" y="224180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946904" y="22418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24144" y="1938528"/>
            <a:ext cx="32186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pointer types (*) and struct definition / member access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47472" y="2980944"/>
            <a:ext cx="4251960" cy="184708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47472" y="2980944"/>
            <a:ext cx="4251960" cy="54864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84632" y="3108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0976" y="31089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Short-Circuit Evaluation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" y="361797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84632" y="361797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61872" y="3547872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of &amp;&amp; / || always evaluated in LLVM IR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" y="423519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84632" y="423519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61872" y="3931920"/>
            <a:ext cx="32186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lazy evaluation with conditional branches in codegen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809744" y="2980944"/>
            <a:ext cx="4251960" cy="1847088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4809744" y="2980944"/>
            <a:ext cx="4251960" cy="54864"/>
          </a:xfrm>
          <a:prstGeom prst="rect">
            <a:avLst/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946904" y="3108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413248" y="31089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Type Promotion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46904" y="361797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8514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4946904" y="361797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24144" y="3547872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int↔float promotion is basic and incomplete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46904" y="423519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4946904" y="423519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24144" y="3931920"/>
            <a:ext cx="32186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 coercion table with float/double promotion rules</a:t>
            </a:r>
            <a:endParaRPr lang="en-US" sz="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84048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768096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1152144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536192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92024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2304288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688336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072384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456432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384048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224528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608576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992624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376672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76072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144768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528816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912864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7296912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768096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8065008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8449056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8833104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0" y="384048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0" y="768096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0" y="1152144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0" y="1536192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0" y="1920240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0" y="2304288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0" y="2688336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0" y="3072384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0" y="3456432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0" y="3840480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0" y="4224528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0" y="4608576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0" y="4992624"/>
            <a:ext cx="914400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1097280" y="594360"/>
            <a:ext cx="6949440" cy="4256532"/>
          </a:xfrm>
          <a:prstGeom prst="rect">
            <a:avLst/>
          </a:prstGeom>
          <a:solidFill>
            <a:srgbClr val="161B22"/>
          </a:solidFill>
          <a:ln/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1097280" y="594360"/>
            <a:ext cx="6949440" cy="9144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1280160" y="8686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3" name="Shape 41"/>
          <p:cNvSpPr/>
          <p:nvPr/>
        </p:nvSpPr>
        <p:spPr>
          <a:xfrm>
            <a:off x="3200400" y="1901952"/>
            <a:ext cx="2743200" cy="457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1280160" y="202996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9D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Compiler for a Subset of 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280160" y="239572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 ·  Parser (AST)  ·  Semantic Analyzer  ·  Optimizer  ·  TAC  ·  LLVM Backend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280160" y="2816352"/>
            <a:ext cx="6583680" cy="4572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1280160" y="294436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Mahad (408576)  ·  Abdul Moiz (375299)  ·  Muhammad Bashar Siddiqui (366006)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80160" y="327355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Construction  ·  BSCS-12B  ·  Spring 2026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368296" y="3679952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58A6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2368296" y="367995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85032" y="3679952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BC8C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3685032" y="3679952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LLVM IR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10328" y="3679952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9D3C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4910328" y="3679952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 Descent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83180" y="4119372"/>
            <a:ext cx="1938528" cy="310896"/>
          </a:xfrm>
          <a:prstGeom prst="roundRect">
            <a:avLst>
              <a:gd name="adj" fmla="val 17647"/>
            </a:avLst>
          </a:prstGeom>
          <a:solidFill>
            <a:srgbClr val="E3B34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2583180" y="411937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 Folding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31436" y="411937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F08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4631436" y="4119372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Code Elim.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280160" y="446227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input.c  →  output.tac  +  output.ll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3167</Words>
  <Application>Microsoft Office PowerPoint</Application>
  <PresentationFormat>On-screen Show (16:9)</PresentationFormat>
  <Paragraphs>470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 C Compiler — Compiler Construction Final Project</dc:title>
  <dc:subject>PptxGenJS Presentation</dc:subject>
  <dc:creator>PptxGenJS</dc:creator>
  <cp:lastModifiedBy>Muhammad Mahad</cp:lastModifiedBy>
  <cp:revision>6</cp:revision>
  <dcterms:created xsi:type="dcterms:W3CDTF">2026-04-29T13:30:47Z</dcterms:created>
  <dcterms:modified xsi:type="dcterms:W3CDTF">2026-04-29T13:58:48Z</dcterms:modified>
</cp:coreProperties>
</file>